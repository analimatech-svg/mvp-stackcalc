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8FAFC"/>
                </a:solidFill>
                <a:latin typeface="Trebuchet MS"/>
              </a:rPr>
              <a:t>SysMap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60A5FA"/>
                </a:solidFill>
                <a:latin typeface="Trebuchet MS"/>
              </a:rPr>
              <a:t>Status de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Trebuchet MS"/>
              </a:rPr>
              <a:t>Decisões aplicadas — Spec Jira v1.3  ·  Mai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2803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Trebuchet MS"/>
              </a:rPr>
              <a:t>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Trebuchet MS"/>
              </a:rPr>
              <a:t>Spec Jira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6634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82803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2852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Trebuchet MS"/>
              </a:rPr>
              <a:t>Fábricas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634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82803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60A5FA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2852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Trebuchet MS"/>
              </a:rPr>
              <a:t>Programas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6634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82803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BBF24"/>
                </a:solidFill>
                <a:latin typeface="Trebuchet MS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852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Trebuchet MS"/>
              </a:rPr>
              <a:t>Decisões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Trebuchet MS"/>
              </a:rPr>
              <a:t>Confidencial — SysMap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Trebuchet MS"/>
              </a:rPr>
              <a:t>Decisões aplicadas na Spec Jira v1.3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Trebuchet MS"/>
              </a:rPr>
              <a:t>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Trebuchet MS"/>
              </a:rPr>
              <a:t>Spec Jira com decisões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9601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1097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4D399"/>
                </a:solidFill>
                <a:latin typeface="Trebuchet M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1536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Trebuchet MS"/>
              </a:rPr>
              <a:t>Pontos críticos tratados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9601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1097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60A5FA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1536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Trebuchet MS"/>
              </a:rPr>
              <a:t>Reclassificados (resolvido/parcial)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59" y="96012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097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BBF24"/>
                </a:solidFill>
                <a:latin typeface="Trebuchet M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536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Trebuchet MS"/>
              </a:rPr>
              <a:t>No backlog (D-08/12 adiados)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6829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609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Projeto Scrum — sprint como 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224028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36829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6609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Project Key = SSG + 5 dígitos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8704" y="224028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3" y="236829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26609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2 swimlanes: Upstream / Downstream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0040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210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Espaço por cliente (não é Cloud)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87952" y="320040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33284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6210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Overhead 10% fixo por 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18704" y="320040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33284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36210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Throughput: Story+Bug, todos os projetos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605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811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Campos nativos primeiro; criar só o que falta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41605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45811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Financeiro só no Power BI — SSG ID é a chave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41605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3" y="428853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3" y="458114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'Fase da Fábrica' sai (é a coluna do board)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4865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41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Alertas com SLA no Jira (bug crítico 2h)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87952" y="512064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524865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D-08/12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5541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AMS e calculadora detalhada — adiados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512064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1583" y="524865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Agêntica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3" y="5541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Trebuchet MS"/>
              </a:rPr>
              <a:t>Foco Salesforce (também atende custom)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Confidencial — SysMap Solutions · SysMap Fabric · Status Mai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Trebuchet MS"/>
              </a:rPr>
              <a:t>Frentes —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74552" cy="4855464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3657600"/>
                <a:gridCol w="1737360"/>
                <a:gridCol w="341071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Frente</a:t>
                      </a:r>
                    </a:p>
                  </a:txBody>
                  <a:tcPr marL="91440" marR="54864" marT="27432" marB="27432" anchor="ctr">
                    <a:solidFill>
                      <a:srgbClr val="0C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Documento</a:t>
                      </a:r>
                    </a:p>
                  </a:txBody>
                  <a:tcPr marL="91440" marR="54864" marT="27432" marB="27432" anchor="ctr">
                    <a:solidFill>
                      <a:srgbClr val="0C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Status</a:t>
                      </a:r>
                    </a:p>
                  </a:txBody>
                  <a:tcPr marL="91440" marR="54864" marT="27432" marB="27432" anchor="ctr">
                    <a:solidFill>
                      <a:srgbClr val="0C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Pendência</a:t>
                      </a:r>
                    </a:p>
                  </a:txBody>
                  <a:tcPr marL="91440" marR="54864" marT="27432" marB="27432" anchor="ctr">
                    <a:solidFill>
                      <a:srgbClr val="0C1D3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F1 · Estrutura Jira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spec-jira v1.3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Concluído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Campos do SSG (input externo)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F2 · Board + Power BI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board-admin v1.0 / spec-powerbi v1.0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Pronto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Nayara configura · Ana conecta BI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F3 · CoE Salesforce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coe-sf v1.0 (docx+pptx)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Concluído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Nomear Domain Owner SF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F4 · Kit Governança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kit-gov v1.0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Concluído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F5 · Jornada por Público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kit-gov §4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Concluído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Design visual dos dashboards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F6 · SharePoint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kit-gov §5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4D399"/>
                          </a:solidFill>
                          <a:latin typeface="Trebuchet MS"/>
                        </a:rPr>
                        <a:t>Concluído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F7 · SSG ↔ Jira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decisões registradas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F4444"/>
                          </a:solidFill>
                          <a:latin typeface="Trebuchet MS"/>
                        </a:rPr>
                        <a:t>Bloqueado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Integração / fonte financeira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F8 · Calculadora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spec-jira §5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BBF24"/>
                          </a:solidFill>
                          <a:latin typeface="Trebuchet MS"/>
                        </a:rPr>
                        <a:t>Aguardando TL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Detalhar horas (adiado)</a:t>
                      </a:r>
                    </a:p>
                  </a:txBody>
                  <a:tcPr marL="91440" marR="54864" marT="27432" marB="27432" anchor="ctr">
                    <a:solidFill>
                      <a:srgbClr val="182233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8FAFC"/>
                          </a:solidFill>
                          <a:latin typeface="Trebuchet MS"/>
                        </a:rPr>
                        <a:t>Fábrica Agêntica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app de fluxo (protótipo)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BBF24"/>
                          </a:solidFill>
                          <a:latin typeface="Trebuchet MS"/>
                        </a:rPr>
                        <a:t>Em estrutura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94A3B8"/>
                          </a:solidFill>
                          <a:latin typeface="Trebuchet MS"/>
                        </a:rPr>
                        <a:t>Foco SF · spec da stack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Confidencial — SysMap Solutions · SysMap Fabric · Status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Trebuchet MS"/>
              </a:rPr>
              <a:t>Cronograma e próximas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Trebuchet MS"/>
              </a:rPr>
              <a:t>CRONOGRAMA — 11 DIAS ÚTEIS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decisão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decisão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CoE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Kit Gov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Trebuchet MS"/>
              </a:rPr>
              <a:t>D7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v1.2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6096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1A050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Trebuchet MS"/>
              </a:rPr>
              <a:t>D8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bloqueado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50224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C1D3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74352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C1D3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352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Power BI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0" y="128016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C1D3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0" y="13716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D11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1664208"/>
            <a:ext cx="969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Trebuchet MS"/>
              </a:rPr>
              <a:t>go-live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4748B"/>
                </a:solidFill>
                <a:latin typeface="Trebuchet MS"/>
              </a:rPr>
              <a:t>PRÓXIMAS AÇÕES CRÍTICAS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651760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" y="2770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28072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2798064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Validar o backlog de decisões (D-01…D-12)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79806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Ana Lima · Hoje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273552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94360" y="33924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42900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3419856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Nayara configura o board admin Jira (6 épicos, ~45 stories)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41985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Nayara · Hoje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895344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" y="401421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050791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4041648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Nomear o Domain Owner SF do CoE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04164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Ana Lima · Sem.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517136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4360" y="46360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672583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" y="466344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Sessão da calculadora com TL + Arquiteto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6634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Ana + TL · Sem. 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138927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94360" y="525779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294375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5285231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Definir fonte financeira + conexão Power BI (não-Cloud)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285231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Ana + TI · Sem. 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760719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94360" y="587959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C1D3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916167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0A5FA"/>
                </a:solidFill>
                <a:latin typeface="Trebuchet MS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5907023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Trebuchet MS"/>
              </a:rPr>
              <a:t>Criar campos no Jira + 3 automações com SLA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907023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Trebuchet MS"/>
              </a:rPr>
              <a:t>Nayara · Sem.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Confidencial — SysMap Solutions · SysMap Fabric · Status Mai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