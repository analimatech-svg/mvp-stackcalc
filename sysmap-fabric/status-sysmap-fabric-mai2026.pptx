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9144000" cy="5138928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5138928"/>
          </a:xfrm>
          <a:prstGeom prst="rect">
            <a:avLst/>
          </a:prstGeom>
          <a:solidFill>
            <a:srgbClr val="2557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389120"/>
            <a:ext cx="9144000" cy="749808"/>
          </a:xfrm>
          <a:prstGeom prst="rect">
            <a:avLst/>
          </a:prstGeom>
          <a:solidFill>
            <a:srgbClr val="1C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868680"/>
            <a:ext cx="8412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300" b="1">
                <a:solidFill>
                  <a:srgbClr val="2557A7"/>
                </a:solidFill>
                <a:latin typeface="Arial"/>
              </a:rPr>
              <a:t>STATUS DE PRODUÇÃO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417320"/>
            <a:ext cx="841248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2200" b="0">
                <a:solidFill>
                  <a:srgbClr val="D1D5DB"/>
                </a:solidFill>
                <a:latin typeface="Arial"/>
              </a:rPr>
              <a:t>SysMap Fabric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965960"/>
            <a:ext cx="84124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Tradicional · Agêntica · CoE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3063240"/>
            <a:ext cx="2560320" cy="41148"/>
          </a:xfrm>
          <a:prstGeom prst="rect">
            <a:avLst/>
          </a:prstGeom>
          <a:solidFill>
            <a:srgbClr val="2557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320040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0">
                <a:solidFill>
                  <a:srgbClr val="9CA3AF"/>
                </a:solidFill>
                <a:latin typeface="Arial"/>
              </a:rPr>
              <a:t>Decisões v1.3 · Frentes · Cronograma e próximas ações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498848"/>
            <a:ext cx="457200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0">
                <a:solidFill>
                  <a:srgbClr val="D1D5DB"/>
                </a:solidFill>
                <a:latin typeface="Arial"/>
              </a:rPr>
              <a:t>SysMap Solutions  |  SysMap Fabric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4498848"/>
            <a:ext cx="411480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100"/>
              </a:spcAft>
            </a:pPr>
            <a:r>
              <a:rPr sz="900" b="0">
                <a:solidFill>
                  <a:srgbClr val="6B7280"/>
                </a:solidFill>
                <a:latin typeface="Arial"/>
              </a:rPr>
              <a:t>Versão 1.3  |  Maio 2026  |  Confidencial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0D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0"/>
            <a:ext cx="64008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>
                <a:solidFill>
                  <a:srgbClr val="D1D5DB"/>
                </a:solidFill>
                <a:latin typeface="Arial"/>
              </a:rPr>
              <a:t>SysMap Solutions   |   SysMap Fabric   |   Status de Produção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0" y="0"/>
            <a:ext cx="22860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100"/>
              </a:spcAft>
            </a:pPr>
            <a:r>
              <a:rPr sz="800" b="0">
                <a:solidFill>
                  <a:srgbClr val="6B7280"/>
                </a:solidFill>
                <a:latin typeface="Arial"/>
              </a:rPr>
              <a:t>Confidencial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585216"/>
            <a:ext cx="8595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2000" b="1">
                <a:solidFill>
                  <a:srgbClr val="0D1B2A"/>
                </a:solidFill>
                <a:latin typeface="Arial"/>
              </a:rPr>
              <a:t>Visão geral — decisões aplicadas na v1.3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097280"/>
            <a:ext cx="1097280" cy="41148"/>
          </a:xfrm>
          <a:prstGeom prst="rect">
            <a:avLst/>
          </a:prstGeom>
          <a:solidFill>
            <a:srgbClr val="2557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1161288"/>
            <a:ext cx="8595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>
                <a:solidFill>
                  <a:srgbClr val="6B7280"/>
                </a:solidFill>
                <a:latin typeface="Arial"/>
              </a:rPr>
              <a:t>Status da spec Jira e decisões fechadas com a Ana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4837176"/>
            <a:ext cx="9144000" cy="301752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74320" y="4837176"/>
            <a:ext cx="7315200" cy="3017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>
                <a:solidFill>
                  <a:srgbClr val="6B7280"/>
                </a:solidFill>
                <a:latin typeface="Arial"/>
              </a:rPr>
              <a:t>SysMap Fabric — Status · Mai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0" y="4837176"/>
            <a:ext cx="640080" cy="3017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100"/>
              </a:spcAft>
            </a:pPr>
            <a:r>
              <a:rPr sz="800" b="0">
                <a:solidFill>
                  <a:srgbClr val="6B7280"/>
                </a:solidFill>
                <a:latin typeface="Arial"/>
              </a:rPr>
              <a:t>2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4320" y="1517904"/>
            <a:ext cx="208026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74320" y="1517904"/>
            <a:ext cx="54864" cy="749808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8912" y="1591056"/>
            <a:ext cx="18516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2200" b="1">
                <a:solidFill>
                  <a:srgbClr val="047857"/>
                </a:solidFill>
                <a:latin typeface="Arial"/>
              </a:rPr>
              <a:t>v1.3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8912" y="1975104"/>
            <a:ext cx="18516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>
                <a:solidFill>
                  <a:srgbClr val="6B7280"/>
                </a:solidFill>
                <a:latin typeface="Arial"/>
              </a:rPr>
              <a:t>Spec Jira com decisões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461564" y="1517904"/>
            <a:ext cx="208026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461564" y="1517904"/>
            <a:ext cx="54864" cy="749808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626156" y="1591056"/>
            <a:ext cx="18516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2200" b="1">
                <a:solidFill>
                  <a:srgbClr val="047857"/>
                </a:solidFill>
                <a:latin typeface="Arial"/>
              </a:rPr>
              <a:t>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626156" y="1975104"/>
            <a:ext cx="18516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>
                <a:solidFill>
                  <a:srgbClr val="6B7280"/>
                </a:solidFill>
                <a:latin typeface="Arial"/>
              </a:rPr>
              <a:t>Pontos críticos tratados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648809" y="1517904"/>
            <a:ext cx="208026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648809" y="1517904"/>
            <a:ext cx="54864" cy="749808"/>
          </a:xfrm>
          <a:prstGeom prst="rect">
            <a:avLst/>
          </a:prstGeom>
          <a:solidFill>
            <a:srgbClr val="2557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813401" y="1591056"/>
            <a:ext cx="18516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2200" b="1">
                <a:solidFill>
                  <a:srgbClr val="2557A7"/>
                </a:solidFill>
                <a:latin typeface="Arial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13401" y="1975104"/>
            <a:ext cx="18516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>
                <a:solidFill>
                  <a:srgbClr val="6B7280"/>
                </a:solidFill>
                <a:latin typeface="Arial"/>
              </a:rPr>
              <a:t>Reclassificados (resolvido/parcial)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836054" y="1517904"/>
            <a:ext cx="208026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836054" y="1517904"/>
            <a:ext cx="54864" cy="749808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000646" y="1591056"/>
            <a:ext cx="18516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2200" b="1">
                <a:solidFill>
                  <a:srgbClr val="B45309"/>
                </a:solidFill>
                <a:latin typeface="Arial"/>
              </a:rPr>
              <a:t>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00646" y="1975104"/>
            <a:ext cx="18516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>
                <a:solidFill>
                  <a:srgbClr val="6B7280"/>
                </a:solidFill>
                <a:latin typeface="Arial"/>
              </a:rPr>
              <a:t>No backlog (2 adiados)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74320" y="2432304"/>
            <a:ext cx="274320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274320" y="2432304"/>
            <a:ext cx="45720" cy="502920"/>
          </a:xfrm>
          <a:prstGeom prst="rect">
            <a:avLst/>
          </a:prstGeom>
          <a:solidFill>
            <a:srgbClr val="2557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20623" y="2496312"/>
            <a:ext cx="25146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>
                <a:solidFill>
                  <a:srgbClr val="2557A7"/>
                </a:solidFill>
                <a:latin typeface="Arial"/>
              </a:rPr>
              <a:t>D-01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20623" y="2688336"/>
            <a:ext cx="2514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>
                <a:solidFill>
                  <a:srgbClr val="374151"/>
                </a:solidFill>
                <a:latin typeface="Arial"/>
              </a:rPr>
              <a:t>Projeto Scrum — sprint como container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154679" y="2432304"/>
            <a:ext cx="274320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3154679" y="2432304"/>
            <a:ext cx="45720" cy="502920"/>
          </a:xfrm>
          <a:prstGeom prst="rect">
            <a:avLst/>
          </a:prstGeom>
          <a:solidFill>
            <a:srgbClr val="2557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300984" y="2496312"/>
            <a:ext cx="25146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>
                <a:solidFill>
                  <a:srgbClr val="2557A7"/>
                </a:solidFill>
                <a:latin typeface="Arial"/>
              </a:rPr>
              <a:t>D-02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300984" y="2688336"/>
            <a:ext cx="2514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>
                <a:solidFill>
                  <a:srgbClr val="374151"/>
                </a:solidFill>
                <a:latin typeface="Arial"/>
              </a:rPr>
              <a:t>Project Key = SSG + 5 dígitos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035040" y="2432304"/>
            <a:ext cx="274320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035040" y="2432304"/>
            <a:ext cx="45720" cy="502920"/>
          </a:xfrm>
          <a:prstGeom prst="rect">
            <a:avLst/>
          </a:prstGeom>
          <a:solidFill>
            <a:srgbClr val="2557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181344" y="2496312"/>
            <a:ext cx="25146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>
                <a:solidFill>
                  <a:srgbClr val="2557A7"/>
                </a:solidFill>
                <a:latin typeface="Arial"/>
              </a:rPr>
              <a:t>D-03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181344" y="2688336"/>
            <a:ext cx="2514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>
                <a:solidFill>
                  <a:srgbClr val="374151"/>
                </a:solidFill>
                <a:latin typeface="Arial"/>
              </a:rPr>
              <a:t>2 swimlanes: Upstream / Downstream</a:t>
            </a:r>
          </a:p>
        </p:txBody>
      </p:sp>
      <p:sp>
        <p:nvSpPr>
          <p:cNvPr id="39" name="Rectangle 38"/>
          <p:cNvSpPr/>
          <p:nvPr/>
        </p:nvSpPr>
        <p:spPr>
          <a:xfrm>
            <a:off x="274320" y="3003804"/>
            <a:ext cx="274320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274320" y="3003804"/>
            <a:ext cx="45720" cy="502920"/>
          </a:xfrm>
          <a:prstGeom prst="rect">
            <a:avLst/>
          </a:prstGeom>
          <a:solidFill>
            <a:srgbClr val="2557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20623" y="3067812"/>
            <a:ext cx="25146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>
                <a:solidFill>
                  <a:srgbClr val="2557A7"/>
                </a:solidFill>
                <a:latin typeface="Arial"/>
              </a:rPr>
              <a:t>D-04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20623" y="3259836"/>
            <a:ext cx="2514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>
                <a:solidFill>
                  <a:srgbClr val="374151"/>
                </a:solidFill>
                <a:latin typeface="Arial"/>
              </a:rPr>
              <a:t>Espaço por cliente (não é Cloud)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154679" y="3003804"/>
            <a:ext cx="274320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3154679" y="3003804"/>
            <a:ext cx="45720" cy="502920"/>
          </a:xfrm>
          <a:prstGeom prst="rect">
            <a:avLst/>
          </a:prstGeom>
          <a:solidFill>
            <a:srgbClr val="2557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300984" y="3067812"/>
            <a:ext cx="25146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>
                <a:solidFill>
                  <a:srgbClr val="2557A7"/>
                </a:solidFill>
                <a:latin typeface="Arial"/>
              </a:rPr>
              <a:t>D-05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300984" y="3259836"/>
            <a:ext cx="2514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>
                <a:solidFill>
                  <a:srgbClr val="374151"/>
                </a:solidFill>
                <a:latin typeface="Arial"/>
              </a:rPr>
              <a:t>Overhead 10% fixo por US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035040" y="3003804"/>
            <a:ext cx="274320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6035040" y="3003804"/>
            <a:ext cx="45720" cy="502920"/>
          </a:xfrm>
          <a:prstGeom prst="rect">
            <a:avLst/>
          </a:prstGeom>
          <a:solidFill>
            <a:srgbClr val="2557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181344" y="3067812"/>
            <a:ext cx="25146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>
                <a:solidFill>
                  <a:srgbClr val="2557A7"/>
                </a:solidFill>
                <a:latin typeface="Arial"/>
              </a:rPr>
              <a:t>D-06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181344" y="3259836"/>
            <a:ext cx="2514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>
                <a:solidFill>
                  <a:srgbClr val="374151"/>
                </a:solidFill>
                <a:latin typeface="Arial"/>
              </a:rPr>
              <a:t>Throughput: Story+Bug, todos projetos</a:t>
            </a:r>
          </a:p>
        </p:txBody>
      </p:sp>
      <p:sp>
        <p:nvSpPr>
          <p:cNvPr id="51" name="Rectangle 50"/>
          <p:cNvSpPr/>
          <p:nvPr/>
        </p:nvSpPr>
        <p:spPr>
          <a:xfrm>
            <a:off x="274320" y="3575304"/>
            <a:ext cx="274320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274320" y="3575304"/>
            <a:ext cx="45720" cy="502920"/>
          </a:xfrm>
          <a:prstGeom prst="rect">
            <a:avLst/>
          </a:prstGeom>
          <a:solidFill>
            <a:srgbClr val="2557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20623" y="3639312"/>
            <a:ext cx="25146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>
                <a:solidFill>
                  <a:srgbClr val="2557A7"/>
                </a:solidFill>
                <a:latin typeface="Arial"/>
              </a:rPr>
              <a:t>D-07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20623" y="3831336"/>
            <a:ext cx="2514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>
                <a:solidFill>
                  <a:srgbClr val="374151"/>
                </a:solidFill>
                <a:latin typeface="Arial"/>
              </a:rPr>
              <a:t>Campos nativos primeiro; criar o que falta</a:t>
            </a:r>
          </a:p>
        </p:txBody>
      </p:sp>
      <p:sp>
        <p:nvSpPr>
          <p:cNvPr id="55" name="Rectangle 54"/>
          <p:cNvSpPr/>
          <p:nvPr/>
        </p:nvSpPr>
        <p:spPr>
          <a:xfrm>
            <a:off x="3154679" y="3575304"/>
            <a:ext cx="274320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3154679" y="3575304"/>
            <a:ext cx="45720" cy="502920"/>
          </a:xfrm>
          <a:prstGeom prst="rect">
            <a:avLst/>
          </a:prstGeom>
          <a:solidFill>
            <a:srgbClr val="2557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3300984" y="3639312"/>
            <a:ext cx="25146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>
                <a:solidFill>
                  <a:srgbClr val="2557A7"/>
                </a:solidFill>
                <a:latin typeface="Arial"/>
              </a:rPr>
              <a:t>D-09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00984" y="3831336"/>
            <a:ext cx="2514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>
                <a:solidFill>
                  <a:srgbClr val="374151"/>
                </a:solidFill>
                <a:latin typeface="Arial"/>
              </a:rPr>
              <a:t>Financeiro só no Power BI — SSG ID é a chave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035040" y="3575304"/>
            <a:ext cx="274320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6035040" y="3575304"/>
            <a:ext cx="45720" cy="502920"/>
          </a:xfrm>
          <a:prstGeom prst="rect">
            <a:avLst/>
          </a:prstGeom>
          <a:solidFill>
            <a:srgbClr val="2557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181344" y="3639312"/>
            <a:ext cx="25146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>
                <a:solidFill>
                  <a:srgbClr val="2557A7"/>
                </a:solidFill>
                <a:latin typeface="Arial"/>
              </a:rPr>
              <a:t>D-10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181344" y="3831336"/>
            <a:ext cx="2514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>
                <a:solidFill>
                  <a:srgbClr val="374151"/>
                </a:solidFill>
                <a:latin typeface="Arial"/>
              </a:rPr>
              <a:t>'Fase da Fábrica' sai (é a coluna do board)</a:t>
            </a:r>
          </a:p>
        </p:txBody>
      </p:sp>
      <p:sp>
        <p:nvSpPr>
          <p:cNvPr id="63" name="Rectangle 62"/>
          <p:cNvSpPr/>
          <p:nvPr/>
        </p:nvSpPr>
        <p:spPr>
          <a:xfrm>
            <a:off x="274320" y="4146804"/>
            <a:ext cx="274320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274320" y="4146804"/>
            <a:ext cx="45720" cy="502920"/>
          </a:xfrm>
          <a:prstGeom prst="rect">
            <a:avLst/>
          </a:prstGeom>
          <a:solidFill>
            <a:srgbClr val="2557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420623" y="4210812"/>
            <a:ext cx="25146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>
                <a:solidFill>
                  <a:srgbClr val="2557A7"/>
                </a:solidFill>
                <a:latin typeface="Arial"/>
              </a:rPr>
              <a:t>D-11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0623" y="4402836"/>
            <a:ext cx="2514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>
                <a:solidFill>
                  <a:srgbClr val="374151"/>
                </a:solidFill>
                <a:latin typeface="Arial"/>
              </a:rPr>
              <a:t>Alertas com SLA (bug crítico 2h)</a:t>
            </a:r>
          </a:p>
        </p:txBody>
      </p:sp>
      <p:sp>
        <p:nvSpPr>
          <p:cNvPr id="67" name="Rectangle 66"/>
          <p:cNvSpPr/>
          <p:nvPr/>
        </p:nvSpPr>
        <p:spPr>
          <a:xfrm>
            <a:off x="3154679" y="4146804"/>
            <a:ext cx="274320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3154679" y="4146804"/>
            <a:ext cx="45720" cy="502920"/>
          </a:xfrm>
          <a:prstGeom prst="rect">
            <a:avLst/>
          </a:prstGeom>
          <a:solidFill>
            <a:srgbClr val="2557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300984" y="4210812"/>
            <a:ext cx="25146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>
                <a:solidFill>
                  <a:srgbClr val="2557A7"/>
                </a:solidFill>
                <a:latin typeface="Arial"/>
              </a:rPr>
              <a:t>D-08/12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3300984" y="4402836"/>
            <a:ext cx="2514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>
                <a:solidFill>
                  <a:srgbClr val="374151"/>
                </a:solidFill>
                <a:latin typeface="Arial"/>
              </a:rPr>
              <a:t>AMS e calculadora — adiados</a:t>
            </a:r>
          </a:p>
        </p:txBody>
      </p:sp>
      <p:sp>
        <p:nvSpPr>
          <p:cNvPr id="71" name="Rectangle 70"/>
          <p:cNvSpPr/>
          <p:nvPr/>
        </p:nvSpPr>
        <p:spPr>
          <a:xfrm>
            <a:off x="6035040" y="4146804"/>
            <a:ext cx="274320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6035040" y="4146804"/>
            <a:ext cx="45720" cy="502920"/>
          </a:xfrm>
          <a:prstGeom prst="rect">
            <a:avLst/>
          </a:prstGeom>
          <a:solidFill>
            <a:srgbClr val="2557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6181344" y="4210812"/>
            <a:ext cx="25146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>
                <a:solidFill>
                  <a:srgbClr val="2557A7"/>
                </a:solidFill>
                <a:latin typeface="Arial"/>
              </a:rPr>
              <a:t>Agêntica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181344" y="4402836"/>
            <a:ext cx="2514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>
                <a:solidFill>
                  <a:srgbClr val="374151"/>
                </a:solidFill>
                <a:latin typeface="Arial"/>
              </a:rPr>
              <a:t>Foco Salesforce (também atende custom)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0D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0"/>
            <a:ext cx="64008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>
                <a:solidFill>
                  <a:srgbClr val="D1D5DB"/>
                </a:solidFill>
                <a:latin typeface="Arial"/>
              </a:rPr>
              <a:t>SysMap Solutions   |   SysMap Fabric   |   Status de Produção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0" y="0"/>
            <a:ext cx="22860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100"/>
              </a:spcAft>
            </a:pPr>
            <a:r>
              <a:rPr sz="800" b="0">
                <a:solidFill>
                  <a:srgbClr val="6B7280"/>
                </a:solidFill>
                <a:latin typeface="Arial"/>
              </a:rPr>
              <a:t>Confidencial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585216"/>
            <a:ext cx="8595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2000" b="1">
                <a:solidFill>
                  <a:srgbClr val="0D1B2A"/>
                </a:solidFill>
                <a:latin typeface="Arial"/>
              </a:rPr>
              <a:t>Frentes — status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097280"/>
            <a:ext cx="1097280" cy="41148"/>
          </a:xfrm>
          <a:prstGeom prst="rect">
            <a:avLst/>
          </a:prstGeom>
          <a:solidFill>
            <a:srgbClr val="2557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1161288"/>
            <a:ext cx="8595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>
                <a:solidFill>
                  <a:srgbClr val="6B7280"/>
                </a:solidFill>
                <a:latin typeface="Arial"/>
              </a:rPr>
              <a:t>Onde cada frente está e a pendência principal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4837176"/>
            <a:ext cx="9144000" cy="301752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74320" y="4837176"/>
            <a:ext cx="7315200" cy="3017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>
                <a:solidFill>
                  <a:srgbClr val="6B7280"/>
                </a:solidFill>
                <a:latin typeface="Arial"/>
              </a:rPr>
              <a:t>SysMap Fabric — Status · Mai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0" y="4837176"/>
            <a:ext cx="640080" cy="3017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100"/>
              </a:spcAft>
            </a:pPr>
            <a:r>
              <a:rPr sz="800" b="0">
                <a:solidFill>
                  <a:srgbClr val="6B7280"/>
                </a:solidFill>
                <a:latin typeface="Arial"/>
              </a:rPr>
              <a:t>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4320" y="1517904"/>
            <a:ext cx="8595360" cy="310896"/>
          </a:xfrm>
          <a:prstGeom prst="rect">
            <a:avLst/>
          </a:prstGeom>
          <a:solidFill>
            <a:srgbClr val="0D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0" y="1517904"/>
            <a:ext cx="192024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>
                <a:solidFill>
                  <a:srgbClr val="FFFFFF"/>
                </a:solidFill>
                <a:latin typeface="Arial"/>
              </a:rPr>
              <a:t>Frente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23160" y="1517904"/>
            <a:ext cx="306324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>
                <a:solidFill>
                  <a:srgbClr val="FFFFFF"/>
                </a:solidFill>
                <a:latin typeface="Arial"/>
              </a:rPr>
              <a:t>Documento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23559" y="1517904"/>
            <a:ext cx="10515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>
                <a:solidFill>
                  <a:srgbClr val="FFFFFF"/>
                </a:solidFill>
                <a:latin typeface="Arial"/>
              </a:rPr>
              <a:t>Status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12279" y="1517904"/>
            <a:ext cx="201168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>
                <a:solidFill>
                  <a:srgbClr val="FFFFFF"/>
                </a:solidFill>
                <a:latin typeface="Arial"/>
              </a:rPr>
              <a:t>Pendência principal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74320" y="1828800"/>
            <a:ext cx="8595360" cy="329184"/>
          </a:xfrm>
          <a:prstGeom prst="rect">
            <a:avLst/>
          </a:prstGeom>
          <a:solidFill>
            <a:srgbClr val="F9F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5760" y="1828800"/>
            <a:ext cx="192024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0D1B2A"/>
                </a:solidFill>
                <a:latin typeface="Arial"/>
              </a:rPr>
              <a:t>F1 · Estrutura Jira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423160" y="1828800"/>
            <a:ext cx="306324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>
                <a:solidFill>
                  <a:srgbClr val="6B7280"/>
                </a:solidFill>
                <a:latin typeface="Arial"/>
              </a:rPr>
              <a:t>spec-jira v1.3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23559" y="1892807"/>
            <a:ext cx="960120" cy="201168"/>
          </a:xfrm>
          <a:prstGeom prst="rect">
            <a:avLst/>
          </a:prstGeom>
          <a:solidFill>
            <a:srgbClr val="DCFC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623559" y="1892807"/>
            <a:ext cx="960120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750" b="1">
                <a:solidFill>
                  <a:srgbClr val="166534"/>
                </a:solidFill>
                <a:latin typeface="Arial"/>
              </a:rPr>
              <a:t>Concluído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12279" y="1828800"/>
            <a:ext cx="20116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>
                <a:solidFill>
                  <a:srgbClr val="374151"/>
                </a:solidFill>
                <a:latin typeface="Arial"/>
              </a:rPr>
              <a:t>Campos do SSG (input externo)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74320" y="2157984"/>
            <a:ext cx="859536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65760" y="2157984"/>
            <a:ext cx="192024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0D1B2A"/>
                </a:solidFill>
                <a:latin typeface="Arial"/>
              </a:rPr>
              <a:t>F2 · Board + Power BI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423160" y="2157984"/>
            <a:ext cx="306324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>
                <a:solidFill>
                  <a:srgbClr val="6B7280"/>
                </a:solidFill>
                <a:latin typeface="Arial"/>
              </a:rPr>
              <a:t>board-admin v1.0 · spec-powerbi v1.0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623559" y="2221991"/>
            <a:ext cx="960120" cy="201168"/>
          </a:xfrm>
          <a:prstGeom prst="rect">
            <a:avLst/>
          </a:prstGeom>
          <a:solidFill>
            <a:srgbClr val="DCFC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623559" y="2221991"/>
            <a:ext cx="960120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750" b="1">
                <a:solidFill>
                  <a:srgbClr val="166534"/>
                </a:solidFill>
                <a:latin typeface="Arial"/>
              </a:rPr>
              <a:t>Pronto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12279" y="2157984"/>
            <a:ext cx="20116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>
                <a:solidFill>
                  <a:srgbClr val="374151"/>
                </a:solidFill>
                <a:latin typeface="Arial"/>
              </a:rPr>
              <a:t>Nayara configura · Ana conecta BI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74320" y="2487168"/>
            <a:ext cx="8595360" cy="329184"/>
          </a:xfrm>
          <a:prstGeom prst="rect">
            <a:avLst/>
          </a:prstGeom>
          <a:solidFill>
            <a:srgbClr val="F9F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65760" y="2487168"/>
            <a:ext cx="192024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0D1B2A"/>
                </a:solidFill>
                <a:latin typeface="Arial"/>
              </a:rPr>
              <a:t>F3 · CoE Salesforce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423160" y="2487168"/>
            <a:ext cx="306324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>
                <a:solidFill>
                  <a:srgbClr val="6B7280"/>
                </a:solidFill>
                <a:latin typeface="Arial"/>
              </a:rPr>
              <a:t>coe-sf v1.0 (docx+pptx)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623559" y="2551175"/>
            <a:ext cx="960120" cy="201168"/>
          </a:xfrm>
          <a:prstGeom prst="rect">
            <a:avLst/>
          </a:prstGeom>
          <a:solidFill>
            <a:srgbClr val="DCFC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623559" y="2551175"/>
            <a:ext cx="960120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750" b="1">
                <a:solidFill>
                  <a:srgbClr val="166534"/>
                </a:solidFill>
                <a:latin typeface="Arial"/>
              </a:rPr>
              <a:t>Concluído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12279" y="2487168"/>
            <a:ext cx="20116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>
                <a:solidFill>
                  <a:srgbClr val="374151"/>
                </a:solidFill>
                <a:latin typeface="Arial"/>
              </a:rPr>
              <a:t>Nomear Domain Owner SF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74320" y="2816351"/>
            <a:ext cx="859536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65760" y="2816351"/>
            <a:ext cx="192024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0D1B2A"/>
                </a:solidFill>
                <a:latin typeface="Arial"/>
              </a:rPr>
              <a:t>F4 · Kit Governança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423160" y="2816351"/>
            <a:ext cx="306324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>
                <a:solidFill>
                  <a:srgbClr val="6B7280"/>
                </a:solidFill>
                <a:latin typeface="Arial"/>
              </a:rPr>
              <a:t>kit-gov v1.0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623559" y="2880359"/>
            <a:ext cx="960120" cy="201168"/>
          </a:xfrm>
          <a:prstGeom prst="rect">
            <a:avLst/>
          </a:prstGeom>
          <a:solidFill>
            <a:srgbClr val="DCFC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623559" y="2880359"/>
            <a:ext cx="960120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750" b="1">
                <a:solidFill>
                  <a:srgbClr val="166534"/>
                </a:solidFill>
                <a:latin typeface="Arial"/>
              </a:rPr>
              <a:t>Concluído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812279" y="2816351"/>
            <a:ext cx="20116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>
                <a:solidFill>
                  <a:srgbClr val="374151"/>
                </a:solidFill>
                <a:latin typeface="Arial"/>
              </a:rPr>
              <a:t>—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74320" y="3145535"/>
            <a:ext cx="8595360" cy="329184"/>
          </a:xfrm>
          <a:prstGeom prst="rect">
            <a:avLst/>
          </a:prstGeom>
          <a:solidFill>
            <a:srgbClr val="F9F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145535"/>
            <a:ext cx="192024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0D1B2A"/>
                </a:solidFill>
                <a:latin typeface="Arial"/>
              </a:rPr>
              <a:t>F5 · Jornada por Público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423160" y="3145535"/>
            <a:ext cx="306324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>
                <a:solidFill>
                  <a:srgbClr val="6B7280"/>
                </a:solidFill>
                <a:latin typeface="Arial"/>
              </a:rPr>
              <a:t>kit-gov seção 4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623559" y="3209543"/>
            <a:ext cx="960120" cy="201168"/>
          </a:xfrm>
          <a:prstGeom prst="rect">
            <a:avLst/>
          </a:prstGeom>
          <a:solidFill>
            <a:srgbClr val="DCFC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623559" y="3209543"/>
            <a:ext cx="960120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750" b="1">
                <a:solidFill>
                  <a:srgbClr val="166534"/>
                </a:solidFill>
                <a:latin typeface="Arial"/>
              </a:rPr>
              <a:t>Concluído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812279" y="3145535"/>
            <a:ext cx="20116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>
                <a:solidFill>
                  <a:srgbClr val="374151"/>
                </a:solidFill>
                <a:latin typeface="Arial"/>
              </a:rPr>
              <a:t>Design visual dos dashboards</a:t>
            </a:r>
          </a:p>
        </p:txBody>
      </p:sp>
      <p:sp>
        <p:nvSpPr>
          <p:cNvPr id="46" name="Rectangle 45"/>
          <p:cNvSpPr/>
          <p:nvPr/>
        </p:nvSpPr>
        <p:spPr>
          <a:xfrm>
            <a:off x="274320" y="3474719"/>
            <a:ext cx="859536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365760" y="3474719"/>
            <a:ext cx="192024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0D1B2A"/>
                </a:solidFill>
                <a:latin typeface="Arial"/>
              </a:rPr>
              <a:t>F6 · SharePoint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423160" y="3474719"/>
            <a:ext cx="306324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>
                <a:solidFill>
                  <a:srgbClr val="6B7280"/>
                </a:solidFill>
                <a:latin typeface="Arial"/>
              </a:rPr>
              <a:t>kit-gov seção 5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623559" y="3538727"/>
            <a:ext cx="960120" cy="201168"/>
          </a:xfrm>
          <a:prstGeom prst="rect">
            <a:avLst/>
          </a:prstGeom>
          <a:solidFill>
            <a:srgbClr val="DCFC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623559" y="3538727"/>
            <a:ext cx="960120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750" b="1">
                <a:solidFill>
                  <a:srgbClr val="166534"/>
                </a:solidFill>
                <a:latin typeface="Arial"/>
              </a:rPr>
              <a:t>Concluído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812279" y="3474719"/>
            <a:ext cx="20116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>
                <a:solidFill>
                  <a:srgbClr val="374151"/>
                </a:solidFill>
                <a:latin typeface="Arial"/>
              </a:rPr>
              <a:t>—</a:t>
            </a:r>
          </a:p>
        </p:txBody>
      </p:sp>
      <p:sp>
        <p:nvSpPr>
          <p:cNvPr id="52" name="Rectangle 51"/>
          <p:cNvSpPr/>
          <p:nvPr/>
        </p:nvSpPr>
        <p:spPr>
          <a:xfrm>
            <a:off x="274320" y="3803903"/>
            <a:ext cx="8595360" cy="329184"/>
          </a:xfrm>
          <a:prstGeom prst="rect">
            <a:avLst/>
          </a:prstGeom>
          <a:solidFill>
            <a:srgbClr val="F9F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365760" y="3803903"/>
            <a:ext cx="192024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0D1B2A"/>
                </a:solidFill>
                <a:latin typeface="Arial"/>
              </a:rPr>
              <a:t>F7 · SSG ↔ Jira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423160" y="3803903"/>
            <a:ext cx="306324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>
                <a:solidFill>
                  <a:srgbClr val="6B7280"/>
                </a:solidFill>
                <a:latin typeface="Arial"/>
              </a:rPr>
              <a:t>decisões registradas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623559" y="3867911"/>
            <a:ext cx="960120" cy="201168"/>
          </a:xfrm>
          <a:prstGeom prst="rect">
            <a:avLst/>
          </a:prstGeom>
          <a:solidFill>
            <a:srgbClr val="FEE2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5623559" y="3867911"/>
            <a:ext cx="960120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750" b="1">
                <a:solidFill>
                  <a:srgbClr val="991B1B"/>
                </a:solidFill>
                <a:latin typeface="Arial"/>
              </a:rPr>
              <a:t>Bloqueado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812279" y="3803903"/>
            <a:ext cx="20116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>
                <a:solidFill>
                  <a:srgbClr val="374151"/>
                </a:solidFill>
                <a:latin typeface="Arial"/>
              </a:rPr>
              <a:t>Integração / fonte financeira</a:t>
            </a:r>
          </a:p>
        </p:txBody>
      </p:sp>
      <p:sp>
        <p:nvSpPr>
          <p:cNvPr id="58" name="Rectangle 57"/>
          <p:cNvSpPr/>
          <p:nvPr/>
        </p:nvSpPr>
        <p:spPr>
          <a:xfrm>
            <a:off x="274320" y="4133087"/>
            <a:ext cx="859536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365760" y="4133087"/>
            <a:ext cx="192024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0D1B2A"/>
                </a:solidFill>
                <a:latin typeface="Arial"/>
              </a:rPr>
              <a:t>F8 · Calculadora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2423160" y="4133087"/>
            <a:ext cx="306324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>
                <a:solidFill>
                  <a:srgbClr val="6B7280"/>
                </a:solidFill>
                <a:latin typeface="Arial"/>
              </a:rPr>
              <a:t>spec-jira seção 5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623559" y="4197096"/>
            <a:ext cx="960120" cy="201168"/>
          </a:xfrm>
          <a:prstGeom prst="rect">
            <a:avLst/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5623559" y="4197096"/>
            <a:ext cx="960120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750" b="1">
                <a:solidFill>
                  <a:srgbClr val="92400E"/>
                </a:solidFill>
                <a:latin typeface="Arial"/>
              </a:rPr>
              <a:t>Aguardando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812279" y="4133087"/>
            <a:ext cx="20116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>
                <a:solidFill>
                  <a:srgbClr val="374151"/>
                </a:solidFill>
                <a:latin typeface="Arial"/>
              </a:rPr>
              <a:t>Detalhar horas (adiado)</a:t>
            </a:r>
          </a:p>
        </p:txBody>
      </p:sp>
      <p:sp>
        <p:nvSpPr>
          <p:cNvPr id="64" name="Rectangle 63"/>
          <p:cNvSpPr/>
          <p:nvPr/>
        </p:nvSpPr>
        <p:spPr>
          <a:xfrm>
            <a:off x="274320" y="4462272"/>
            <a:ext cx="8595360" cy="329184"/>
          </a:xfrm>
          <a:prstGeom prst="rect">
            <a:avLst/>
          </a:prstGeom>
          <a:solidFill>
            <a:srgbClr val="F9F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365760" y="4462272"/>
            <a:ext cx="192024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0D1B2A"/>
                </a:solidFill>
                <a:latin typeface="Arial"/>
              </a:rPr>
              <a:t>Fábrica Agêntica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2423160" y="4462272"/>
            <a:ext cx="306324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>
                <a:solidFill>
                  <a:srgbClr val="6B7280"/>
                </a:solidFill>
                <a:latin typeface="Arial"/>
              </a:rPr>
              <a:t>app de fluxo (protótipo)</a:t>
            </a:r>
          </a:p>
        </p:txBody>
      </p:sp>
      <p:sp>
        <p:nvSpPr>
          <p:cNvPr id="67" name="Rectangle 66"/>
          <p:cNvSpPr/>
          <p:nvPr/>
        </p:nvSpPr>
        <p:spPr>
          <a:xfrm>
            <a:off x="5623559" y="4526280"/>
            <a:ext cx="960120" cy="201168"/>
          </a:xfrm>
          <a:prstGeom prst="rect">
            <a:avLst/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5623559" y="4526280"/>
            <a:ext cx="960120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750" b="1">
                <a:solidFill>
                  <a:srgbClr val="92400E"/>
                </a:solidFill>
                <a:latin typeface="Arial"/>
              </a:rPr>
              <a:t>Em estrutura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812279" y="4462272"/>
            <a:ext cx="20116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>
                <a:solidFill>
                  <a:srgbClr val="374151"/>
                </a:solidFill>
                <a:latin typeface="Arial"/>
              </a:rPr>
              <a:t>Foco SF · spec da stack</a:t>
            </a:r>
          </a:p>
        </p:txBody>
      </p:sp>
      <p:sp>
        <p:nvSpPr>
          <p:cNvPr id="70" name="Rectangle 69"/>
          <p:cNvSpPr/>
          <p:nvPr/>
        </p:nvSpPr>
        <p:spPr>
          <a:xfrm>
            <a:off x="274320" y="1517904"/>
            <a:ext cx="8595360" cy="3273551"/>
          </a:xfrm>
          <a:prstGeom prst="rect">
            <a:avLst/>
          </a:prstGeom>
          <a:noFill/>
          <a:ln w="9525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0D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0"/>
            <a:ext cx="64008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>
                <a:solidFill>
                  <a:srgbClr val="D1D5DB"/>
                </a:solidFill>
                <a:latin typeface="Arial"/>
              </a:rPr>
              <a:t>SysMap Solutions   |   SysMap Fabric   |   Status de Produção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0" y="0"/>
            <a:ext cx="22860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100"/>
              </a:spcAft>
            </a:pPr>
            <a:r>
              <a:rPr sz="800" b="0">
                <a:solidFill>
                  <a:srgbClr val="6B7280"/>
                </a:solidFill>
                <a:latin typeface="Arial"/>
              </a:rPr>
              <a:t>Confidencial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585216"/>
            <a:ext cx="8595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2000" b="1">
                <a:solidFill>
                  <a:srgbClr val="0D1B2A"/>
                </a:solidFill>
                <a:latin typeface="Arial"/>
              </a:rPr>
              <a:t>Cronograma e próximas ações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097280"/>
            <a:ext cx="1097280" cy="41148"/>
          </a:xfrm>
          <a:prstGeom prst="rect">
            <a:avLst/>
          </a:prstGeom>
          <a:solidFill>
            <a:srgbClr val="2557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1161288"/>
            <a:ext cx="8595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>
                <a:solidFill>
                  <a:srgbClr val="6B7280"/>
                </a:solidFill>
                <a:latin typeface="Arial"/>
              </a:rPr>
              <a:t>11 dias úteis e as 6 ações críticas da semana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4837176"/>
            <a:ext cx="9144000" cy="301752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74320" y="4837176"/>
            <a:ext cx="7315200" cy="3017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>
                <a:solidFill>
                  <a:srgbClr val="6B7280"/>
                </a:solidFill>
                <a:latin typeface="Arial"/>
              </a:rPr>
              <a:t>SysMap Fabric — Status · Mai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0" y="4837176"/>
            <a:ext cx="640080" cy="3017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100"/>
              </a:spcAft>
            </a:pPr>
            <a:r>
              <a:rPr sz="800" b="0">
                <a:solidFill>
                  <a:srgbClr val="6B7280"/>
                </a:solidFill>
                <a:latin typeface="Arial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" y="1481328"/>
            <a:ext cx="85953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>
                <a:solidFill>
                  <a:srgbClr val="6B7280"/>
                </a:solidFill>
                <a:latin typeface="Arial"/>
              </a:rPr>
              <a:t>CRONOGRAMA — 11 DIAS ÚTEIS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4320" y="1737360"/>
            <a:ext cx="766267" cy="603504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74320" y="1737360"/>
            <a:ext cx="766267" cy="45720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74320" y="1828800"/>
            <a:ext cx="766267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100" b="1">
                <a:solidFill>
                  <a:srgbClr val="047857"/>
                </a:solidFill>
                <a:latin typeface="Arial"/>
              </a:rPr>
              <a:t>D1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4320" y="2075688"/>
            <a:ext cx="766267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700" b="0">
                <a:solidFill>
                  <a:srgbClr val="6B7280"/>
                </a:solidFill>
                <a:latin typeface="Arial"/>
              </a:rPr>
              <a:t>decisão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64361" y="1737360"/>
            <a:ext cx="766267" cy="603504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064361" y="1737360"/>
            <a:ext cx="766267" cy="45720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64361" y="1828800"/>
            <a:ext cx="766267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100" b="1">
                <a:solidFill>
                  <a:srgbClr val="047857"/>
                </a:solidFill>
                <a:latin typeface="Arial"/>
              </a:rPr>
              <a:t>D2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4361" y="2075688"/>
            <a:ext cx="766267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700" b="0">
                <a:solidFill>
                  <a:srgbClr val="6B7280"/>
                </a:solidFill>
                <a:latin typeface="Arial"/>
              </a:rPr>
              <a:t>spec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854403" y="1737360"/>
            <a:ext cx="766267" cy="603504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854403" y="1737360"/>
            <a:ext cx="766267" cy="45720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854403" y="1828800"/>
            <a:ext cx="766267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100" b="1">
                <a:solidFill>
                  <a:srgbClr val="047857"/>
                </a:solidFill>
                <a:latin typeface="Arial"/>
              </a:rPr>
              <a:t>D3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54403" y="2075688"/>
            <a:ext cx="766267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700" b="0">
                <a:solidFill>
                  <a:srgbClr val="6B7280"/>
                </a:solidFill>
                <a:latin typeface="Arial"/>
              </a:rPr>
              <a:t>entrega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644444" y="1737360"/>
            <a:ext cx="766267" cy="603504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644444" y="1737360"/>
            <a:ext cx="766267" cy="45720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644444" y="1828800"/>
            <a:ext cx="766267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100" b="1">
                <a:solidFill>
                  <a:srgbClr val="047857"/>
                </a:solidFill>
                <a:latin typeface="Arial"/>
              </a:rPr>
              <a:t>D4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644444" y="2075688"/>
            <a:ext cx="766267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700" b="0">
                <a:solidFill>
                  <a:srgbClr val="6B7280"/>
                </a:solidFill>
                <a:latin typeface="Arial"/>
              </a:rPr>
              <a:t>decisão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434486" y="1737360"/>
            <a:ext cx="766267" cy="603504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434486" y="1737360"/>
            <a:ext cx="766267" cy="45720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434486" y="1828800"/>
            <a:ext cx="766267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100" b="1">
                <a:solidFill>
                  <a:srgbClr val="047857"/>
                </a:solidFill>
                <a:latin typeface="Arial"/>
              </a:rPr>
              <a:t>D5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434486" y="2075688"/>
            <a:ext cx="766267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700" b="0">
                <a:solidFill>
                  <a:srgbClr val="6B7280"/>
                </a:solidFill>
                <a:latin typeface="Arial"/>
              </a:rPr>
              <a:t>CoE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224528" y="1737360"/>
            <a:ext cx="766267" cy="603504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224528" y="1737360"/>
            <a:ext cx="766267" cy="45720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224528" y="1828800"/>
            <a:ext cx="766267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100" b="1">
                <a:solidFill>
                  <a:srgbClr val="047857"/>
                </a:solidFill>
                <a:latin typeface="Arial"/>
              </a:rPr>
              <a:t>D6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224528" y="2075688"/>
            <a:ext cx="766267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700" b="0">
                <a:solidFill>
                  <a:srgbClr val="6B7280"/>
                </a:solidFill>
                <a:latin typeface="Arial"/>
              </a:rPr>
              <a:t>Kit Gov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14569" y="1737360"/>
            <a:ext cx="766267" cy="603504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5014569" y="1737360"/>
            <a:ext cx="766267" cy="45720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014569" y="1828800"/>
            <a:ext cx="766267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100" b="1">
                <a:solidFill>
                  <a:srgbClr val="047857"/>
                </a:solidFill>
                <a:latin typeface="Arial"/>
              </a:rPr>
              <a:t>D7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014569" y="2075688"/>
            <a:ext cx="766267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700" b="0">
                <a:solidFill>
                  <a:srgbClr val="6B7280"/>
                </a:solidFill>
                <a:latin typeface="Arial"/>
              </a:rPr>
              <a:t>v1.3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804611" y="1737360"/>
            <a:ext cx="766267" cy="603504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5804611" y="1737360"/>
            <a:ext cx="766267" cy="45720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804611" y="1828800"/>
            <a:ext cx="766267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100" b="1">
                <a:solidFill>
                  <a:srgbClr val="B91C1C"/>
                </a:solidFill>
                <a:latin typeface="Arial"/>
              </a:rPr>
              <a:t>D8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804611" y="2075688"/>
            <a:ext cx="766267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700" b="0">
                <a:solidFill>
                  <a:srgbClr val="6B7280"/>
                </a:solidFill>
                <a:latin typeface="Arial"/>
              </a:rPr>
              <a:t>bloqueado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594652" y="1737360"/>
            <a:ext cx="766267" cy="603504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6594652" y="1737360"/>
            <a:ext cx="766267" cy="45720"/>
          </a:xfrm>
          <a:prstGeom prst="rect">
            <a:avLst/>
          </a:prstGeom>
          <a:solidFill>
            <a:srgbClr val="2557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594652" y="1828800"/>
            <a:ext cx="766267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100" b="1">
                <a:solidFill>
                  <a:srgbClr val="2557A7"/>
                </a:solidFill>
                <a:latin typeface="Arial"/>
              </a:rPr>
              <a:t>D9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594652" y="2075688"/>
            <a:ext cx="766267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700" b="0">
                <a:solidFill>
                  <a:srgbClr val="6B7280"/>
                </a:solidFill>
                <a:latin typeface="Arial"/>
              </a:rPr>
              <a:t>board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384694" y="1737360"/>
            <a:ext cx="766267" cy="603504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7384694" y="1737360"/>
            <a:ext cx="766267" cy="45720"/>
          </a:xfrm>
          <a:prstGeom prst="rect">
            <a:avLst/>
          </a:prstGeom>
          <a:solidFill>
            <a:srgbClr val="2557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384694" y="1828800"/>
            <a:ext cx="766267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100" b="1">
                <a:solidFill>
                  <a:srgbClr val="2557A7"/>
                </a:solidFill>
                <a:latin typeface="Arial"/>
              </a:rPr>
              <a:t>D10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384694" y="2075688"/>
            <a:ext cx="766267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700" b="0">
                <a:solidFill>
                  <a:srgbClr val="6B7280"/>
                </a:solidFill>
                <a:latin typeface="Arial"/>
              </a:rPr>
              <a:t>Power BI</a:t>
            </a:r>
          </a:p>
        </p:txBody>
      </p:sp>
      <p:sp>
        <p:nvSpPr>
          <p:cNvPr id="52" name="Rectangle 51"/>
          <p:cNvSpPr/>
          <p:nvPr/>
        </p:nvSpPr>
        <p:spPr>
          <a:xfrm>
            <a:off x="8174736" y="1737360"/>
            <a:ext cx="766267" cy="603504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8174736" y="1737360"/>
            <a:ext cx="766267" cy="45720"/>
          </a:xfrm>
          <a:prstGeom prst="rect">
            <a:avLst/>
          </a:prstGeom>
          <a:solidFill>
            <a:srgbClr val="2557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174736" y="1828800"/>
            <a:ext cx="766267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100" b="1">
                <a:solidFill>
                  <a:srgbClr val="2557A7"/>
                </a:solidFill>
                <a:latin typeface="Arial"/>
              </a:rPr>
              <a:t>D11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174736" y="2075688"/>
            <a:ext cx="766267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700" b="0">
                <a:solidFill>
                  <a:srgbClr val="6B7280"/>
                </a:solidFill>
                <a:latin typeface="Arial"/>
              </a:rPr>
              <a:t>go-live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74320" y="2542032"/>
            <a:ext cx="85953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>
                <a:solidFill>
                  <a:srgbClr val="6B7280"/>
                </a:solidFill>
                <a:latin typeface="Arial"/>
              </a:rPr>
              <a:t>PRÓXIMAS AÇÕES CRÍTICAS</a:t>
            </a:r>
          </a:p>
        </p:txBody>
      </p:sp>
      <p:sp>
        <p:nvSpPr>
          <p:cNvPr id="57" name="Rectangle 56"/>
          <p:cNvSpPr/>
          <p:nvPr/>
        </p:nvSpPr>
        <p:spPr>
          <a:xfrm>
            <a:off x="274320" y="2798064"/>
            <a:ext cx="8595360" cy="338328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274320" y="2798064"/>
            <a:ext cx="45720" cy="338328"/>
          </a:xfrm>
          <a:prstGeom prst="rect">
            <a:avLst/>
          </a:prstGeom>
          <a:solidFill>
            <a:srgbClr val="2557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384048" y="2871216"/>
            <a:ext cx="201168" cy="201168"/>
          </a:xfrm>
          <a:prstGeom prst="rect">
            <a:avLst/>
          </a:prstGeom>
          <a:solidFill>
            <a:srgbClr val="EF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384048" y="2871216"/>
            <a:ext cx="201168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00" b="1">
                <a:solidFill>
                  <a:srgbClr val="2557A7"/>
                </a:solidFill>
                <a:latin typeface="Arial"/>
              </a:rPr>
              <a:t>1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31520" y="2798064"/>
            <a:ext cx="6035040" cy="3383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0">
                <a:solidFill>
                  <a:srgbClr val="374151"/>
                </a:solidFill>
                <a:latin typeface="Arial"/>
              </a:rPr>
              <a:t>Validar o backlog de decisões (D-01…D-12)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858000" y="2798064"/>
            <a:ext cx="1920240" cy="3383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B45309"/>
                </a:solidFill>
                <a:latin typeface="Arial"/>
              </a:rPr>
              <a:t>Ana Lima · Hoje</a:t>
            </a:r>
          </a:p>
        </p:txBody>
      </p:sp>
      <p:sp>
        <p:nvSpPr>
          <p:cNvPr id="63" name="Rectangle 62"/>
          <p:cNvSpPr/>
          <p:nvPr/>
        </p:nvSpPr>
        <p:spPr>
          <a:xfrm>
            <a:off x="274320" y="3163824"/>
            <a:ext cx="8595360" cy="338328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274320" y="3163824"/>
            <a:ext cx="45720" cy="338328"/>
          </a:xfrm>
          <a:prstGeom prst="rect">
            <a:avLst/>
          </a:prstGeom>
          <a:solidFill>
            <a:srgbClr val="2557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384048" y="3236976"/>
            <a:ext cx="201168" cy="201168"/>
          </a:xfrm>
          <a:prstGeom prst="rect">
            <a:avLst/>
          </a:prstGeom>
          <a:solidFill>
            <a:srgbClr val="EF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384048" y="3236976"/>
            <a:ext cx="201168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00" b="1">
                <a:solidFill>
                  <a:srgbClr val="2557A7"/>
                </a:solidFill>
                <a:latin typeface="Arial"/>
              </a:rPr>
              <a:t>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31520" y="3163824"/>
            <a:ext cx="6035040" cy="3383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0">
                <a:solidFill>
                  <a:srgbClr val="374151"/>
                </a:solidFill>
                <a:latin typeface="Arial"/>
              </a:rPr>
              <a:t>Nayara configura o board admin Jira (6 épicos, ~45 stories)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858000" y="3163824"/>
            <a:ext cx="1920240" cy="3383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B45309"/>
                </a:solidFill>
                <a:latin typeface="Arial"/>
              </a:rPr>
              <a:t>Nayara · Hoje</a:t>
            </a:r>
          </a:p>
        </p:txBody>
      </p:sp>
      <p:sp>
        <p:nvSpPr>
          <p:cNvPr id="69" name="Rectangle 68"/>
          <p:cNvSpPr/>
          <p:nvPr/>
        </p:nvSpPr>
        <p:spPr>
          <a:xfrm>
            <a:off x="274320" y="3529584"/>
            <a:ext cx="8595360" cy="338328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274320" y="3529584"/>
            <a:ext cx="45720" cy="338328"/>
          </a:xfrm>
          <a:prstGeom prst="rect">
            <a:avLst/>
          </a:prstGeom>
          <a:solidFill>
            <a:srgbClr val="2557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384048" y="3602736"/>
            <a:ext cx="201168" cy="201168"/>
          </a:xfrm>
          <a:prstGeom prst="rect">
            <a:avLst/>
          </a:prstGeom>
          <a:solidFill>
            <a:srgbClr val="EF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384048" y="3602736"/>
            <a:ext cx="201168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00" b="1">
                <a:solidFill>
                  <a:srgbClr val="2557A7"/>
                </a:solidFill>
                <a:latin typeface="Arial"/>
              </a:rPr>
              <a:t>3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31520" y="3529584"/>
            <a:ext cx="6035040" cy="3383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0">
                <a:solidFill>
                  <a:srgbClr val="374151"/>
                </a:solidFill>
                <a:latin typeface="Arial"/>
              </a:rPr>
              <a:t>Nomear o Domain Owner SF do CoE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858000" y="3529584"/>
            <a:ext cx="1920240" cy="3383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B45309"/>
                </a:solidFill>
                <a:latin typeface="Arial"/>
              </a:rPr>
              <a:t>Ana Lima · Sem. 1</a:t>
            </a:r>
          </a:p>
        </p:txBody>
      </p:sp>
      <p:sp>
        <p:nvSpPr>
          <p:cNvPr id="75" name="Rectangle 74"/>
          <p:cNvSpPr/>
          <p:nvPr/>
        </p:nvSpPr>
        <p:spPr>
          <a:xfrm>
            <a:off x="274320" y="3895344"/>
            <a:ext cx="8595360" cy="338328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274320" y="3895344"/>
            <a:ext cx="45720" cy="338328"/>
          </a:xfrm>
          <a:prstGeom prst="rect">
            <a:avLst/>
          </a:prstGeom>
          <a:solidFill>
            <a:srgbClr val="2557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384048" y="3968496"/>
            <a:ext cx="201168" cy="201168"/>
          </a:xfrm>
          <a:prstGeom prst="rect">
            <a:avLst/>
          </a:prstGeom>
          <a:solidFill>
            <a:srgbClr val="EF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384048" y="3968496"/>
            <a:ext cx="201168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00" b="1">
                <a:solidFill>
                  <a:srgbClr val="2557A7"/>
                </a:solidFill>
                <a:latin typeface="Arial"/>
              </a:rPr>
              <a:t>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731520" y="3895344"/>
            <a:ext cx="6035040" cy="3383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0">
                <a:solidFill>
                  <a:srgbClr val="374151"/>
                </a:solidFill>
                <a:latin typeface="Arial"/>
              </a:rPr>
              <a:t>Sessão da calculadora com TL + Arquiteto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6858000" y="3895344"/>
            <a:ext cx="1920240" cy="3383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B45309"/>
                </a:solidFill>
                <a:latin typeface="Arial"/>
              </a:rPr>
              <a:t>Ana + TL · Sem. 1</a:t>
            </a:r>
          </a:p>
        </p:txBody>
      </p:sp>
      <p:sp>
        <p:nvSpPr>
          <p:cNvPr id="81" name="Rectangle 80"/>
          <p:cNvSpPr/>
          <p:nvPr/>
        </p:nvSpPr>
        <p:spPr>
          <a:xfrm>
            <a:off x="274320" y="4261104"/>
            <a:ext cx="8595360" cy="338328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274320" y="4261104"/>
            <a:ext cx="45720" cy="338328"/>
          </a:xfrm>
          <a:prstGeom prst="rect">
            <a:avLst/>
          </a:prstGeom>
          <a:solidFill>
            <a:srgbClr val="2557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384048" y="4334256"/>
            <a:ext cx="201168" cy="201168"/>
          </a:xfrm>
          <a:prstGeom prst="rect">
            <a:avLst/>
          </a:prstGeom>
          <a:solidFill>
            <a:srgbClr val="EF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384048" y="4334256"/>
            <a:ext cx="201168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00" b="1">
                <a:solidFill>
                  <a:srgbClr val="2557A7"/>
                </a:solidFill>
                <a:latin typeface="Arial"/>
              </a:rPr>
              <a:t>5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31520" y="4261104"/>
            <a:ext cx="6035040" cy="3383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0">
                <a:solidFill>
                  <a:srgbClr val="374151"/>
                </a:solidFill>
                <a:latin typeface="Arial"/>
              </a:rPr>
              <a:t>Definir fonte financeira + conexão Power BI (não-Cloud)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858000" y="4261104"/>
            <a:ext cx="1920240" cy="3383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B45309"/>
                </a:solidFill>
                <a:latin typeface="Arial"/>
              </a:rPr>
              <a:t>Ana + TI · Sem. 1</a:t>
            </a:r>
          </a:p>
        </p:txBody>
      </p:sp>
      <p:sp>
        <p:nvSpPr>
          <p:cNvPr id="87" name="Rectangle 86"/>
          <p:cNvSpPr/>
          <p:nvPr/>
        </p:nvSpPr>
        <p:spPr>
          <a:xfrm>
            <a:off x="274320" y="4626864"/>
            <a:ext cx="8595360" cy="338328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274320" y="4626864"/>
            <a:ext cx="45720" cy="338328"/>
          </a:xfrm>
          <a:prstGeom prst="rect">
            <a:avLst/>
          </a:prstGeom>
          <a:solidFill>
            <a:srgbClr val="2557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384048" y="4700016"/>
            <a:ext cx="201168" cy="201168"/>
          </a:xfrm>
          <a:prstGeom prst="rect">
            <a:avLst/>
          </a:prstGeom>
          <a:solidFill>
            <a:srgbClr val="EF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384048" y="4700016"/>
            <a:ext cx="201168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00" b="1">
                <a:solidFill>
                  <a:srgbClr val="2557A7"/>
                </a:solidFill>
                <a:latin typeface="Arial"/>
              </a:rPr>
              <a:t>6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731520" y="4626864"/>
            <a:ext cx="6035040" cy="3383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0">
                <a:solidFill>
                  <a:srgbClr val="374151"/>
                </a:solidFill>
                <a:latin typeface="Arial"/>
              </a:rPr>
              <a:t>Criar campos no Jira + 3 automações com SLA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858000" y="4626864"/>
            <a:ext cx="1920240" cy="3383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B45309"/>
                </a:solidFill>
                <a:latin typeface="Arial"/>
              </a:rPr>
              <a:t>Nayara · Sem. 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